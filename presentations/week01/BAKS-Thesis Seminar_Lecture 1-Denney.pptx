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89" r:id="rId3"/>
    <p:sldId id="296" r:id="rId4"/>
    <p:sldId id="305" r:id="rId5"/>
    <p:sldId id="282" r:id="rId6"/>
    <p:sldId id="297" r:id="rId7"/>
    <p:sldId id="298" r:id="rId8"/>
    <p:sldId id="300" r:id="rId9"/>
    <p:sldId id="301" r:id="rId10"/>
    <p:sldId id="307" r:id="rId11"/>
    <p:sldId id="302" r:id="rId12"/>
    <p:sldId id="303" r:id="rId13"/>
    <p:sldId id="304" r:id="rId14"/>
  </p:sldIdLst>
  <p:sldSz cx="12192000" cy="6858000"/>
  <p:notesSz cx="6858000" cy="9144000"/>
  <p:embeddedFontLs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Gill Sans" panose="020B0502020104020203" pitchFamily="34" charset="-79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681A97-4B1E-46FF-B417-D5C5C16AF7B3}">
  <a:tblStyle styleId="{25681A97-4B1E-46FF-B417-D5C5C16AF7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8"/>
    <p:restoredTop sz="94694"/>
  </p:normalViewPr>
  <p:slideViewPr>
    <p:cSldViewPr snapToGrid="0">
      <p:cViewPr varScale="1">
        <p:scale>
          <a:sx n="103" d="100"/>
          <a:sy n="103" d="100"/>
        </p:scale>
        <p:origin x="19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232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96F8776-4685-9B03-AEE9-D997B142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7C14F269-E19F-AA28-B114-7F392B0BB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28BA4543-411E-4421-48CF-C9270113D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38F668FA-C09C-17B8-1885-0EFC4997E2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6810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15C7E11F-63A6-8900-5F76-18757610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CE718C0B-208E-4343-59E8-12B1820E5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03FD4F59-193C-F054-CF45-37381C99D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32D7F704-804A-918B-680C-5A79E761B3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975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21D46B8E-5EF6-2514-16DA-88435AB5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8466CD8-3FBE-D46D-E0CC-77EEBE610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223B0B69-C376-BA0F-9E9B-D814AACCB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05B0352B-27E2-34C0-D1E3-A29DC94734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800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014C637-3FD2-7B94-7C66-18A1BA6B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5EFEC91-DC89-8CD1-3D17-D255E6DC6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256C78F1-4E10-3797-678A-72F6C4C2B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692C5DC9-6829-104B-7EAC-C1C108F111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6356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FD17E39-321B-AFCD-AC2B-62F3E7D4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F91B2D28-66D6-6FA2-BF6A-62FB92EF9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27C6C444-B31C-067F-4FAD-456514A76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DC739AC2-660C-E713-0105-40666C91E5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807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42663344-1DF8-6EE0-4CE2-38056AEA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2A106BCD-FB33-BFE3-B071-A493721C9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6B74670C-0D13-908F-3449-8E9F1BD5E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44EFB676-E99D-791E-2B65-F55FFCF4D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4817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9DADCB34-A3E3-47B7-01E7-F410C34F1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454C1969-9315-993B-05D4-74EEAA146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1956A779-0A85-7217-9FE6-06F7F5A51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45779C74-8D83-8126-E98C-D95C695DFA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129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F055A466-A983-6E02-D223-E6AE383D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D0A23095-A49E-70F3-7BC6-A5FFFA6301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C37B363F-E63F-8A3A-764D-F20497CA9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24725A8F-4B64-69B9-7B95-C0E3A8ECE1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2696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F6B1C08C-CCC2-9594-A042-C3F8E887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F3C886E-2BB3-E694-A5FD-D0F1CF4CC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7E81A762-05AA-26A3-1C62-6945EAC49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1BF4D9A1-5497-7F23-6354-791DD9896B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829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E6FA6AA9-04C0-CCB4-2C57-370311E3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9442FD80-C6E1-667C-4321-E483EFC5D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8E48E91B-C15F-18F9-58F3-362C879C6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BB26B0CE-3FC9-BA7F-DCDB-8AB0FE5A58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33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1856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256"/>
              <a:buFont typeface="Garamond"/>
              <a:buChar char="●"/>
              <a:defRPr sz="2400"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●"/>
              <a:defRPr sz="2200">
                <a:latin typeface="Garamond"/>
                <a:ea typeface="Garamond"/>
                <a:cs typeface="Garamond"/>
                <a:sym typeface="Garamond"/>
              </a:defRPr>
            </a:lvl2pPr>
            <a:lvl3pPr marL="1371600" lvl="2" indent="-3718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56"/>
              <a:buFont typeface="Garamond"/>
              <a:buChar char="◼"/>
              <a:defRPr sz="2000">
                <a:latin typeface="Garamond"/>
                <a:ea typeface="Garamond"/>
                <a:cs typeface="Garamond"/>
                <a:sym typeface="Garamond"/>
              </a:defRPr>
            </a:lvl3pPr>
            <a:lvl4pPr marL="1828800" lvl="3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●"/>
              <a:defRPr sz="1800">
                <a:latin typeface="Garamond"/>
                <a:ea typeface="Garamond"/>
                <a:cs typeface="Garamond"/>
                <a:sym typeface="Garamond"/>
              </a:defRPr>
            </a:lvl4pPr>
            <a:lvl5pPr marL="2286000" lvl="4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●"/>
              <a:defRPr sz="1800">
                <a:latin typeface="Garamond"/>
                <a:ea typeface="Garamond"/>
                <a:cs typeface="Garamond"/>
                <a:sym typeface="Garamond"/>
              </a:defRPr>
            </a:lvl5pPr>
            <a:lvl6pPr marL="2743200" lvl="5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6pPr>
            <a:lvl7pPr marL="3200400" lvl="6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7pPr>
            <a:lvl8pPr marL="3657600" lvl="7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8pPr>
            <a:lvl9pPr marL="4114800" lvl="8" indent="-371856" algn="l">
              <a:spcBef>
                <a:spcPts val="600"/>
              </a:spcBef>
              <a:spcAft>
                <a:spcPts val="60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  <a:solidFill>
            <a:srgbClr val="14365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aramond"/>
              <a:buNone/>
              <a:defRPr sz="3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581192" y="869576"/>
            <a:ext cx="978667" cy="385483"/>
          </a:xfrm>
          <a:prstGeom prst="rect">
            <a:avLst/>
          </a:prstGeom>
          <a:solidFill>
            <a:schemeClr val="lt1"/>
          </a:solidFill>
          <a:ln w="222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●"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DD347A"/>
              </a:buClr>
              <a:buSzPts val="1472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14365D"/>
              </a:buClr>
              <a:buSzPts val="1472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rgbClr val="DD347A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Font typeface="Arial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Font typeface="Arial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81192" y="869576"/>
            <a:ext cx="978667" cy="385483"/>
          </a:xfrm>
          <a:prstGeom prst="rect">
            <a:avLst/>
          </a:prstGeom>
          <a:solidFill>
            <a:schemeClr val="lt1"/>
          </a:solidFill>
          <a:ln w="222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●"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581192" y="4604172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Font typeface="Arial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5659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79802" y="4495698"/>
            <a:ext cx="72765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690282"/>
            <a:ext cx="1201271" cy="6275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79802" y="4495698"/>
            <a:ext cx="72765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690282"/>
            <a:ext cx="1201271" cy="627530"/>
          </a:xfrm>
          <a:prstGeom prst="rect">
            <a:avLst/>
          </a:prstGeom>
          <a:solidFill>
            <a:srgbClr val="14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581193" y="1559859"/>
            <a:ext cx="5422390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88417" y="1559859"/>
            <a:ext cx="5422392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rgbClr val="14365D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2590" b="0" i="0" u="none" strike="noStrike" cap="none">
              <a:solidFill>
                <a:srgbClr val="14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rgbClr val="14365D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2590" b="0" i="0" u="none" strike="noStrike" cap="none">
              <a:solidFill>
                <a:srgbClr val="14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36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581192" y="738622"/>
            <a:ext cx="11029616" cy="34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81192" y="1714887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Font typeface="Arial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Font typeface="Arial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581194" y="2537012"/>
            <a:ext cx="5393100" cy="332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6217709" y="1714887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Font typeface="Arial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Font typeface="Arial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6217709" y="2537012"/>
            <a:ext cx="5393100" cy="332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581192" y="675261"/>
            <a:ext cx="11029616" cy="4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 rot="5400000">
            <a:off x="4085484" y="-1666527"/>
            <a:ext cx="4021032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Char char="●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Font typeface="Arial"/>
              <a:buChar char="—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8839201" y="0"/>
            <a:ext cx="33527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 rot="5400000">
            <a:off x="7671366" y="2216706"/>
            <a:ext cx="4809928" cy="2474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●"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672351" y="1192745"/>
            <a:ext cx="7998851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8839201" y="0"/>
            <a:ext cx="33527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81193" y="1219444"/>
            <a:ext cx="11029615" cy="220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Font typeface="Arial"/>
              <a:buChar char="—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581192" y="6122227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0719663" y="612222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11"/>
          <p:cNvCxnSpPr/>
          <p:nvPr/>
        </p:nvCxnSpPr>
        <p:spPr>
          <a:xfrm>
            <a:off x="681136" y="3537142"/>
            <a:ext cx="10767526" cy="0"/>
          </a:xfrm>
          <a:prstGeom prst="straightConnector1">
            <a:avLst/>
          </a:pr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11"/>
          <p:cNvSpPr txBox="1">
            <a:spLocks noGrp="1"/>
          </p:cNvSpPr>
          <p:nvPr>
            <p:ph type="body" idx="2"/>
          </p:nvPr>
        </p:nvSpPr>
        <p:spPr>
          <a:xfrm>
            <a:off x="581193" y="3670835"/>
            <a:ext cx="11029615" cy="220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Font typeface="Arial"/>
              <a:buChar char="—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581193" y="1559859"/>
            <a:ext cx="5422390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6188417" y="1559859"/>
            <a:ext cx="5422392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2"/>
          <p:cNvSpPr txBox="1"/>
          <p:nvPr/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2590"/>
              <a:buFont typeface="Arial"/>
              <a:buNone/>
            </a:pPr>
            <a:r>
              <a:rPr lang="en-US" sz="2590" b="0" cap="none">
                <a:solidFill>
                  <a:srgbClr val="14365D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2590" b="0" cap="none">
              <a:solidFill>
                <a:srgbClr val="14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81192" y="1837765"/>
            <a:ext cx="110295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Arial"/>
              <a:buChar char="●"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—"/>
              <a:defRPr sz="1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11205889" y="6023538"/>
            <a:ext cx="0" cy="5625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/>
          <p:nvPr/>
        </p:nvSpPr>
        <p:spPr>
          <a:xfrm>
            <a:off x="162950" y="6429325"/>
            <a:ext cx="39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>
            <a:spLocks noGrp="1"/>
          </p:cNvSpPr>
          <p:nvPr>
            <p:ph type="pic" idx="4294967295"/>
          </p:nvPr>
        </p:nvSpPr>
        <p:spPr>
          <a:xfrm>
            <a:off x="450850" y="695771"/>
            <a:ext cx="11290300" cy="35575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BA-</a:t>
            </a:r>
            <a:r>
              <a:rPr lang="en-US" sz="36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Eindwerkstuk</a:t>
            </a: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Seminar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Class #1: Developing a Research Question and Identifying the Research Problem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lnSpc>
                <a:spcPct val="107916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916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916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916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Workgroup 103</a:t>
            </a:r>
          </a:p>
          <a:p>
            <a:pPr marL="0" indent="0">
              <a:lnSpc>
                <a:spcPct val="107916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Steven Denney</a:t>
            </a:r>
          </a:p>
          <a:p>
            <a:pPr marL="0" indent="0">
              <a:lnSpc>
                <a:spcPct val="107916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Friday, 7 February 2025</a:t>
            </a:r>
          </a:p>
          <a:p>
            <a:pPr marL="0" lvl="0" indent="0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6B60E-5AEE-EB5F-3381-363EA988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127" y="5051360"/>
            <a:ext cx="3608273" cy="1606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70"/>
    </mc:Choice>
    <mc:Fallback xmlns="">
      <p:transition spd="slow" advTm="307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 Who's Who</a:t>
            </a:r>
            <a:endParaRPr sz="3200" b="1" dirty="0"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What is your name – full and preferred?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What is your research topic and interest in Korea?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What do you want out of this course?</a:t>
            </a:r>
            <a:endParaRPr lang="en-US" sz="3200" dirty="0"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06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5306AC5A-A6D7-2F68-839F-C65FBF99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7389585-950A-6CFF-C665-8A9C262377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First four weeks of this class</a:t>
            </a:r>
            <a:endParaRPr sz="3200"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C1C15627-F2FB-987E-8EDA-4809E07AD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Research question and problem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Data and sources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Conducting a literature review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Analysis and reporting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endParaRPr lang="en-US" sz="3200" b="1" dirty="0"/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3200" b="1" dirty="0"/>
              <a:t>Objective: Develop a full proposal (Assignment #1)</a:t>
            </a:r>
            <a:endParaRPr lang="en-US" sz="3200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E2067FFA-C519-514E-0D06-5E22498F00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343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2E6266C0-F8E5-DB44-3EC0-28F3F0A1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29360E8-171A-31CC-6511-C6B7E52D6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Today’s objectives</a:t>
            </a:r>
            <a:endParaRPr sz="3200"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FBABA884-2223-47FA-D784-95F87F2C4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Understand what makes a good research question.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Discuss how to identify a research problem or gap in the literature.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200" b="1" dirty="0"/>
              <a:t>Emphasize the importance of self-reflection in forming research questions</a:t>
            </a:r>
            <a:endParaRPr lang="en-US" sz="3200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022C5229-5ACB-941A-ED38-7FCF17A1D2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117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D6B7F-CB57-9B15-5E07-0BDC4AF9F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6B74D-90C9-82C8-47B0-319A02C51FD1}"/>
              </a:ext>
            </a:extLst>
          </p:cNvPr>
          <p:cNvSpPr/>
          <p:nvPr/>
        </p:nvSpPr>
        <p:spPr>
          <a:xfrm>
            <a:off x="10671243" y="5778230"/>
            <a:ext cx="1429966" cy="953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76A73-0588-613B-0D73-BC453D23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28" y="723449"/>
            <a:ext cx="7521344" cy="54109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276DA9-26BA-AB07-FBB2-911B250FB666}"/>
              </a:ext>
            </a:extLst>
          </p:cNvPr>
          <p:cNvSpPr txBox="1"/>
          <p:nvPr/>
        </p:nvSpPr>
        <p:spPr>
          <a:xfrm>
            <a:off x="2813538" y="6254885"/>
            <a:ext cx="658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Note: Mullaney and Rea, p. 20</a:t>
            </a:r>
          </a:p>
        </p:txBody>
      </p:sp>
    </p:spTree>
    <p:extLst>
      <p:ext uri="{BB962C8B-B14F-4D97-AF65-F5344CB8AC3E}">
        <p14:creationId xmlns:p14="http://schemas.microsoft.com/office/powerpoint/2010/main" val="17423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DCF5211-B59C-F0D9-BCCA-05386DCF1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6D8459F-5134-9031-902B-C968B97372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What is a Research Question?</a:t>
            </a:r>
            <a:endParaRPr sz="3200"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868B3306-5F57-F196-8BD5-DC4A41E4C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200" b="1" dirty="0"/>
              <a:t>Topics are not questions 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200" b="1" dirty="0"/>
              <a:t>A good question is sufficiently specific, open-ended, and at least a little personal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200" b="1" dirty="0"/>
              <a:t>Danger zone: questions that seek to understand “causes” and “effects”</a:t>
            </a:r>
            <a:endParaRPr lang="en-US" sz="3200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F4E002A6-E362-72A3-E16A-938DFFA21D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096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CA9EEF32-88D8-68CC-946F-54A806F8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9E531D4E-A439-E489-74C1-197B53ADF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Why Start with Yourself?</a:t>
            </a:r>
            <a:endParaRPr sz="3200"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AF248DCC-0A3B-1062-6952-5FD2BCB36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200" b="1" dirty="0"/>
              <a:t>Research begins by identifying personal passions and concerns.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200" b="1" dirty="0"/>
              <a:t>Honest self-reflection leads to more meaningful and enduring questions.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200" b="1" dirty="0"/>
              <a:t>Self-evidence: Pay attention to your instincts and curiosities as you explore your topic, refine your question, and do your research.​</a:t>
            </a:r>
            <a:endParaRPr lang="en-US" sz="3200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32B543B5-2E2A-6BC6-AC77-B36279DD4E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05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DF65BC8-D9DE-CE38-9A7F-4C12A3E1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D4BE7C8-5EBC-5E7B-9BC7-8D47A5CEE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Finding Your Problem in the Literature</a:t>
            </a: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8DD7B07E-B7AF-F8F4-378D-CBC7487FD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2075498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b="1" dirty="0"/>
              <a:t>A research problem disturbs or compels you (</a:t>
            </a:r>
            <a:r>
              <a:rPr lang="en-US" b="1" i="1" dirty="0"/>
              <a:t>the personnel</a:t>
            </a:r>
            <a:r>
              <a:rPr lang="en-US" b="1" dirty="0"/>
              <a:t>)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b="1" dirty="0"/>
              <a:t>Problems can be empirical, theoretical, and/or normative (</a:t>
            </a:r>
            <a:r>
              <a:rPr lang="en-US" b="1" i="1" dirty="0"/>
              <a:t>the so what?)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b="1" dirty="0"/>
              <a:t>Avoid the “Narrow-Down-Your-Topic Trap” (pp. 21-22, Mulaney and Rea)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b="1" dirty="0"/>
              <a:t>Strategies: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dirty="0"/>
              <a:t>Read literature to identify gaps</a:t>
            </a:r>
            <a:r>
              <a:rPr lang="en-US" b="1" dirty="0"/>
              <a:t> 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dirty="0"/>
              <a:t>Generate self-evidence about what draws or repels you in the readings</a:t>
            </a:r>
          </a:p>
          <a:p>
            <a:pPr indent="-4572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dirty="0"/>
              <a:t>Visualize:</a:t>
            </a:r>
            <a:br>
              <a:rPr lang="en-US" dirty="0"/>
            </a:br>
            <a:r>
              <a:rPr lang="en-US" dirty="0"/>
              <a:t> </a:t>
            </a:r>
            <a:r>
              <a:rPr lang="en-US" i="1" dirty="0"/>
              <a:t>literature</a:t>
            </a:r>
            <a:r>
              <a:rPr lang="en-US" dirty="0"/>
              <a:t> → </a:t>
            </a:r>
            <a:r>
              <a:rPr lang="en-US" i="1" dirty="0"/>
              <a:t>questions</a:t>
            </a:r>
            <a:r>
              <a:rPr lang="en-US" dirty="0"/>
              <a:t> → </a:t>
            </a:r>
            <a:r>
              <a:rPr lang="en-US" i="1" dirty="0"/>
              <a:t>problem </a:t>
            </a:r>
            <a:r>
              <a:rPr lang="en-US" dirty="0"/>
              <a:t>[DISCOVERY/READING]</a:t>
            </a:r>
            <a:br>
              <a:rPr lang="en-US" dirty="0"/>
            </a:br>
            <a:r>
              <a:rPr lang="en-US" dirty="0"/>
              <a:t>Then:</a:t>
            </a:r>
            <a:br>
              <a:rPr lang="en-US" dirty="0"/>
            </a:br>
            <a:r>
              <a:rPr lang="en-US" i="1" dirty="0"/>
              <a:t>question</a:t>
            </a:r>
            <a:r>
              <a:rPr lang="en-US" dirty="0"/>
              <a:t> → </a:t>
            </a:r>
            <a:r>
              <a:rPr lang="en-US" i="1" dirty="0"/>
              <a:t>problem</a:t>
            </a:r>
            <a:r>
              <a:rPr lang="en-US" dirty="0"/>
              <a:t> → </a:t>
            </a:r>
            <a:r>
              <a:rPr lang="en-US" i="1" dirty="0"/>
              <a:t>proposed solution </a:t>
            </a:r>
            <a:r>
              <a:rPr lang="en-US" dirty="0"/>
              <a:t>[WRITING]</a:t>
            </a:r>
            <a:br>
              <a:rPr lang="en-US" dirty="0"/>
            </a:br>
            <a:endParaRPr lang="en-US" i="1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05AE672F-CA8E-2C9C-B4CD-E6951FED31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1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F195FCB-ADA3-EFB3-8ECC-BD3A6014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578F63C-9C85-80FA-BCE4-8ADDFC6AF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Let’s reflect</a:t>
            </a: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23CDF19D-392A-1968-E912-C122F5B5B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b="1" dirty="0"/>
              <a:t>A topic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b="1" dirty="0"/>
              <a:t>The literature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b="1" dirty="0"/>
              <a:t>A problem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b="1" dirty="0"/>
              <a:t>The question(s)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dirty="0"/>
              <a:t>The solution(s) [data, methods, etc.]  - </a:t>
            </a:r>
            <a:r>
              <a:rPr lang="en-US" sz="2800" i="1" dirty="0"/>
              <a:t>later!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FA59EBF7-8D09-42FC-5116-DA0885F096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954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BEEC0871-501C-9A58-D427-87C762F6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E5C4736B-496E-E63B-D4D7-7F0359995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Overall structure</a:t>
            </a: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052DF42-7BCC-55A8-0DDA-73C6D25AE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b="1" dirty="0"/>
              <a:t>Introduction 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dirty="0"/>
              <a:t>Literature Review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dirty="0"/>
              <a:t>Data and Sources / Analytical Framework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dirty="0"/>
              <a:t>Findings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2800" dirty="0"/>
              <a:t>Conclusion and Discussion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73246866-72EE-E5CC-257D-42EC82E4E3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99B476A-EA0B-D94C-37A5-96B0F599E2CE}"/>
              </a:ext>
            </a:extLst>
          </p:cNvPr>
          <p:cNvCxnSpPr/>
          <p:nvPr/>
        </p:nvCxnSpPr>
        <p:spPr>
          <a:xfrm flipH="1">
            <a:off x="3274142" y="2526890"/>
            <a:ext cx="8160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61E774-179D-4030-C569-B6E888597B89}"/>
              </a:ext>
            </a:extLst>
          </p:cNvPr>
          <p:cNvSpPr txBox="1"/>
          <p:nvPr/>
        </p:nvSpPr>
        <p:spPr>
          <a:xfrm>
            <a:off x="4090219" y="2373001"/>
            <a:ext cx="155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101833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ED2B6FA-F0FB-D468-49DB-66D9001A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A1ECFC2E-00E2-B2DB-3C37-4B55658F44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Workshop: Self-Reflection and Brainstorming</a:t>
            </a: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9C733905-4521-ACD8-5F89-C89BA597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dirty="0"/>
              <a:t>On your laptop, tablet, or even phone…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dirty="0"/>
              <a:t>Refer to Mullaney and Rea’s "Try This Now: Search Yourself" (pp. 27-28)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dirty="0"/>
              <a:t>Identify from your initial proposals 2–3 topics of interest or questions and follow steps 2-7. Then answer the questions on p. 31. Keep in mind:</a:t>
            </a:r>
          </a:p>
          <a:p>
            <a:pPr marL="971550" lvl="1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000" dirty="0"/>
              <a:t>Why does this matter to me?​</a:t>
            </a:r>
          </a:p>
          <a:p>
            <a:pPr marL="971550" lvl="1" indent="-51435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sz="3000" dirty="0"/>
              <a:t>Why might it matter to others?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dirty="0"/>
              <a:t>Share 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0D661969-529E-6D32-599A-BAC9F9EDD0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267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1E217AC8-5ACA-54E8-306A-0033250D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A944CE42-5F5C-E272-4984-716243F8E8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Stress-Test Your Questions</a:t>
            </a: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E9A79FC8-80A8-51EB-F262-295754096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2800" b="1" dirty="0"/>
              <a:t>Are they clear, precise, and jargon-free?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2800" b="1" dirty="0"/>
              <a:t>Do they avoid leading, loaded, or causal language </a:t>
            </a:r>
            <a:br>
              <a:rPr lang="en-US" sz="2800" b="1" dirty="0"/>
            </a:br>
            <a:r>
              <a:rPr lang="en-US" sz="1200" b="1" dirty="0"/>
              <a:t>(e.g., "How did X cause Y?“ OR “Why should X be like Y” OR “How should X do Y”)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2800" b="1" dirty="0"/>
              <a:t>Rewrite unclear or biased questions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1F1C52FF-ED6B-2360-F3DA-14C0363B54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730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D2390E1-CB06-D095-DE42-96F56AB8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B0C8210-D31E-9C41-3EA3-8B8C9415D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First Exercise: Draft Your Research Problem</a:t>
            </a: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6C1935E0-D983-131F-7B06-6731AB3A0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Revise/draft a research question and identify the research problem using the submitted proposal. Provide a brief explanation of the gap your research will address (tip of the literature review)</a:t>
            </a: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buSzPct val="75000"/>
            </a:pPr>
            <a:r>
              <a:rPr lang="en-US" b="1" dirty="0">
                <a:latin typeface="Garamond" panose="02020404030301010803" pitchFamily="18" charset="0"/>
                <a:ea typeface="Times New Roman" panose="02020603050405020304" pitchFamily="18" charset="0"/>
              </a:rPr>
              <a:t>Aim for ~500 words that clearly state the WHAT (topic and question) and WHY (the “so what” that connects the question to bigger issues)</a:t>
            </a:r>
            <a:endParaRPr lang="en-US" b="1" dirty="0">
              <a:effectLst/>
              <a:latin typeface="Garamond" panose="02020404030301010803" pitchFamily="18" charset="0"/>
              <a:ea typeface="Times New Roman" panose="02020603050405020304" pitchFamily="18" charset="0"/>
            </a:endParaRP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50329B21-E6C4-EB5B-E76B-3BE12228B0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54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7"/>
    </mc:Choice>
    <mc:Fallback xmlns="">
      <p:transition spd="slow" advTm="67697"/>
    </mc:Fallback>
  </mc:AlternateContent>
</p:sld>
</file>

<file path=ppt/theme/theme1.xml><?xml version="1.0" encoding="utf-8"?>
<a:theme xmlns:a="http://schemas.openxmlformats.org/drawingml/2006/main" name="SCD_UniVie">
  <a:themeElements>
    <a:clrScheme name="Custom 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DD347A"/>
      </a:accent1>
      <a:accent2>
        <a:srgbClr val="14365D"/>
      </a:accent2>
      <a:accent3>
        <a:srgbClr val="8AD4DF"/>
      </a:accent3>
      <a:accent4>
        <a:srgbClr val="FECC14"/>
      </a:accent4>
      <a:accent5>
        <a:srgbClr val="F7941E"/>
      </a:accent5>
      <a:accent6>
        <a:srgbClr val="79133E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587</Words>
  <Application>Microsoft Macintosh PowerPoint</Application>
  <PresentationFormat>Widescreen</PresentationFormat>
  <Paragraphs>92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Garamond</vt:lpstr>
      <vt:lpstr>Noto Sans Symbols</vt:lpstr>
      <vt:lpstr>Arial</vt:lpstr>
      <vt:lpstr>Times New Roman</vt:lpstr>
      <vt:lpstr>Gill Sans</vt:lpstr>
      <vt:lpstr>Calibri</vt:lpstr>
      <vt:lpstr>SCD_UniVie</vt:lpstr>
      <vt:lpstr>PowerPoint Presentation</vt:lpstr>
      <vt:lpstr> Who's Who</vt:lpstr>
      <vt:lpstr>First four weeks of this class</vt:lpstr>
      <vt:lpstr>Today’s objectives</vt:lpstr>
      <vt:lpstr>PowerPoint Presentation</vt:lpstr>
      <vt:lpstr>What is a Research Question?</vt:lpstr>
      <vt:lpstr>Why Start with Yourself?</vt:lpstr>
      <vt:lpstr>Finding Your Problem in the Literature</vt:lpstr>
      <vt:lpstr>Let’s reflect</vt:lpstr>
      <vt:lpstr>Overall structure</vt:lpstr>
      <vt:lpstr>Workshop: Self-Reflection and Brainstorming</vt:lpstr>
      <vt:lpstr>Stress-Test Your Questions</vt:lpstr>
      <vt:lpstr>First Exercise: Draft Your Research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Denney</dc:creator>
  <cp:lastModifiedBy>Steven Denney</cp:lastModifiedBy>
  <cp:revision>64</cp:revision>
  <dcterms:modified xsi:type="dcterms:W3CDTF">2025-02-07T10:20:20Z</dcterms:modified>
</cp:coreProperties>
</file>