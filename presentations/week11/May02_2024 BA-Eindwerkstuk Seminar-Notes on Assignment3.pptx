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95" r:id="rId3"/>
    <p:sldId id="318" r:id="rId4"/>
    <p:sldId id="309" r:id="rId5"/>
    <p:sldId id="310" r:id="rId6"/>
    <p:sldId id="311" r:id="rId7"/>
    <p:sldId id="313" r:id="rId8"/>
    <p:sldId id="312" r:id="rId9"/>
    <p:sldId id="314" r:id="rId10"/>
    <p:sldId id="315" r:id="rId11"/>
    <p:sldId id="316" r:id="rId12"/>
    <p:sldId id="317" r:id="rId13"/>
  </p:sldIdLst>
  <p:sldSz cx="12192000" cy="6858000"/>
  <p:notesSz cx="6858000" cy="9144000"/>
  <p:embeddedFontLst>
    <p:embeddedFont>
      <p:font typeface="Garamond" panose="02020404030301010803" pitchFamily="18" charset="0"/>
      <p:regular r:id="rId15"/>
      <p:bold r:id="rId16"/>
      <p:italic r:id="rId17"/>
      <p:boldItalic r:id="rId18"/>
    </p:embeddedFont>
    <p:embeddedFont>
      <p:font typeface="Gill Sans" panose="020B0502020104020203" pitchFamily="34" charset="-79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681A97-4B1E-46FF-B417-D5C5C16AF7B3}">
  <a:tblStyle styleId="{25681A97-4B1E-46FF-B417-D5C5C16AF7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33"/>
    <p:restoredTop sz="94694"/>
  </p:normalViewPr>
  <p:slideViewPr>
    <p:cSldViewPr snapToGrid="0">
      <p:cViewPr varScale="1">
        <p:scale>
          <a:sx n="108" d="100"/>
          <a:sy n="108" d="100"/>
        </p:scale>
        <p:origin x="216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9724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9278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1595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2763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0859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3234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8FEB8A2F-DD07-C277-C303-0CE4C321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9d85be2e2_0_0:notes">
            <a:extLst>
              <a:ext uri="{FF2B5EF4-FFF2-40B4-BE49-F238E27FC236}">
                <a16:creationId xmlns:a16="http://schemas.microsoft.com/office/drawing/2014/main" id="{8D112DBB-8992-4598-B3F3-4DB41B556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9d85be2e2_0_0:notes">
            <a:extLst>
              <a:ext uri="{FF2B5EF4-FFF2-40B4-BE49-F238E27FC236}">
                <a16:creationId xmlns:a16="http://schemas.microsoft.com/office/drawing/2014/main" id="{4D28429B-A28C-D12A-D899-2B585781A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a9d85be2e2_0_0:notes">
            <a:extLst>
              <a:ext uri="{FF2B5EF4-FFF2-40B4-BE49-F238E27FC236}">
                <a16:creationId xmlns:a16="http://schemas.microsoft.com/office/drawing/2014/main" id="{79C15425-CC42-CC62-6340-AD8CCA4036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718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71856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256"/>
              <a:buFont typeface="Garamond"/>
              <a:buChar char="●"/>
              <a:defRPr sz="2400"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2200">
                <a:latin typeface="Garamond"/>
                <a:ea typeface="Garamond"/>
                <a:cs typeface="Garamond"/>
                <a:sym typeface="Garamond"/>
              </a:defRPr>
            </a:lvl2pPr>
            <a:lvl3pPr marL="1371600" lvl="2" indent="-371856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56"/>
              <a:buFont typeface="Garamond"/>
              <a:buChar char="◼"/>
              <a:defRPr sz="2000">
                <a:latin typeface="Garamond"/>
                <a:ea typeface="Garamond"/>
                <a:cs typeface="Garamond"/>
                <a:sym typeface="Garamond"/>
              </a:defRPr>
            </a:lvl3pPr>
            <a:lvl4pPr marL="1828800" lvl="3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1800">
                <a:latin typeface="Garamond"/>
                <a:ea typeface="Garamond"/>
                <a:cs typeface="Garamond"/>
                <a:sym typeface="Garamond"/>
              </a:defRPr>
            </a:lvl4pPr>
            <a:lvl5pPr marL="2286000" lvl="4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●"/>
              <a:defRPr sz="1800">
                <a:latin typeface="Garamond"/>
                <a:ea typeface="Garamond"/>
                <a:cs typeface="Garamond"/>
                <a:sym typeface="Garamond"/>
              </a:defRPr>
            </a:lvl5pPr>
            <a:lvl6pPr marL="2743200" lvl="5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6pPr>
            <a:lvl7pPr marL="3200400" lvl="6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7pPr>
            <a:lvl8pPr marL="3657600" lvl="7" indent="-371856" algn="l">
              <a:spcBef>
                <a:spcPts val="600"/>
              </a:spcBef>
              <a:spcAft>
                <a:spcPts val="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8pPr>
            <a:lvl9pPr marL="4114800" lvl="8" indent="-371856" algn="l">
              <a:spcBef>
                <a:spcPts val="600"/>
              </a:spcBef>
              <a:spcAft>
                <a:spcPts val="600"/>
              </a:spcAft>
              <a:buSzPts val="2256"/>
              <a:buFont typeface="Garamond"/>
              <a:buChar char="◼"/>
              <a:defRPr sz="1800"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  <a:solidFill>
            <a:srgbClr val="14365D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Garamond"/>
              <a:buNone/>
              <a:defRPr sz="3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581192" y="869576"/>
            <a:ext cx="978667" cy="385483"/>
          </a:xfrm>
          <a:prstGeom prst="rect">
            <a:avLst/>
          </a:prstGeom>
          <a:solidFill>
            <a:schemeClr val="lt1"/>
          </a:solidFill>
          <a:ln w="222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●"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20"/>
              </a:spcBef>
              <a:spcAft>
                <a:spcPts val="0"/>
              </a:spcAft>
              <a:buClr>
                <a:srgbClr val="DD347A"/>
              </a:buClr>
              <a:buSzPts val="1472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00"/>
              </a:spcBef>
              <a:spcAft>
                <a:spcPts val="0"/>
              </a:spcAft>
              <a:buClr>
                <a:srgbClr val="14365D"/>
              </a:buClr>
              <a:buSzPts val="1472"/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00"/>
              </a:spcBef>
              <a:spcAft>
                <a:spcPts val="0"/>
              </a:spcAft>
              <a:buClr>
                <a:srgbClr val="DD347A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Font typeface="Arial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Font typeface="Arial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81192" y="869576"/>
            <a:ext cx="978667" cy="385483"/>
          </a:xfrm>
          <a:prstGeom prst="rect">
            <a:avLst/>
          </a:prstGeom>
          <a:solidFill>
            <a:schemeClr val="lt1"/>
          </a:solidFill>
          <a:ln w="22225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Char char="●"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581192" y="4604172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5659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0" i="0" u="none" strike="noStrike" cap="none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679802" y="4495698"/>
            <a:ext cx="7276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690282"/>
            <a:ext cx="1201271" cy="6275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79802" y="4495698"/>
            <a:ext cx="727657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57200" y="690282"/>
            <a:ext cx="1201271" cy="627530"/>
          </a:xfrm>
          <a:prstGeom prst="rect">
            <a:avLst/>
          </a:prstGeom>
          <a:solidFill>
            <a:srgbClr val="1436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581193" y="1559859"/>
            <a:ext cx="5422390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88417" y="1559859"/>
            <a:ext cx="5422392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i="0" u="none" strike="noStrike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i="0" u="none" strike="noStrike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i="0" u="none" strike="noStrike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36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581192" y="738622"/>
            <a:ext cx="11029616" cy="34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81192" y="1714887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Font typeface="Arial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Font typeface="Arial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581194" y="2537012"/>
            <a:ext cx="5393100" cy="332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6217709" y="1714887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Font typeface="Arial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Font typeface="Arial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6217709" y="2537012"/>
            <a:ext cx="5393100" cy="332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581192" y="675261"/>
            <a:ext cx="11029616" cy="42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 rot="5400000">
            <a:off x="4085484" y="-1666527"/>
            <a:ext cx="4021032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Font typeface="Arial"/>
              <a:buChar char="—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8839201" y="0"/>
            <a:ext cx="33527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 rot="5400000">
            <a:off x="7671366" y="2216706"/>
            <a:ext cx="4809928" cy="2474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●"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672351" y="1192745"/>
            <a:ext cx="7998851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>
                <a:solidFill>
                  <a:srgbClr val="E5659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8839201" y="0"/>
            <a:ext cx="33527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1800"/>
              <a:buChar char="●"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81193" y="1219444"/>
            <a:ext cx="11029615" cy="220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Char char="—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581192" y="6122227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0719663" y="612222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11"/>
          <p:cNvCxnSpPr/>
          <p:nvPr/>
        </p:nvCxnSpPr>
        <p:spPr>
          <a:xfrm>
            <a:off x="681136" y="3537142"/>
            <a:ext cx="10767526" cy="0"/>
          </a:xfrm>
          <a:prstGeom prst="straightConnector1">
            <a:avLst/>
          </a:prstGeom>
          <a:noFill/>
          <a:ln w="12700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" name="Google Shape;75;p11"/>
          <p:cNvSpPr txBox="1">
            <a:spLocks noGrp="1"/>
          </p:cNvSpPr>
          <p:nvPr>
            <p:ph type="body" idx="2"/>
          </p:nvPr>
        </p:nvSpPr>
        <p:spPr>
          <a:xfrm>
            <a:off x="581193" y="3670835"/>
            <a:ext cx="11029615" cy="2204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Font typeface="Arial"/>
              <a:buChar char="—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>
            <a:off x="581193" y="1559859"/>
            <a:ext cx="5422390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2"/>
          </p:nvPr>
        </p:nvSpPr>
        <p:spPr>
          <a:xfrm>
            <a:off x="6188417" y="1559859"/>
            <a:ext cx="5422392" cy="4301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●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—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581192" y="6166964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2"/>
          <p:cNvSpPr txBox="1"/>
          <p:nvPr/>
        </p:nvSpPr>
        <p:spPr>
          <a:xfrm>
            <a:off x="581192" y="630438"/>
            <a:ext cx="11029616" cy="445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4365D"/>
              </a:buClr>
              <a:buSzPts val="2590"/>
              <a:buFont typeface="Arial"/>
              <a:buNone/>
            </a:pPr>
            <a:r>
              <a:rPr lang="en-US" sz="2590" b="0" cap="none">
                <a:solidFill>
                  <a:srgbClr val="14365D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2590" b="0" cap="none">
              <a:solidFill>
                <a:srgbClr val="14365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581192" y="1837765"/>
            <a:ext cx="11029500" cy="4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Arial"/>
              <a:buChar char="●"/>
              <a:defRPr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Arial"/>
              <a:buChar char="—"/>
              <a:defRPr sz="1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11205889" y="6023538"/>
            <a:ext cx="0" cy="56250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 txBox="1"/>
          <p:nvPr/>
        </p:nvSpPr>
        <p:spPr>
          <a:xfrm>
            <a:off x="162950" y="6429325"/>
            <a:ext cx="392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O1Z7cE_RZ5s8-7jprFISZJO4B09jfO8ZXCjwcYDJsB0/edit?usp=shar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>
            <a:spLocks noGrp="1"/>
          </p:cNvSpPr>
          <p:nvPr>
            <p:ph type="pic" idx="4294967295"/>
          </p:nvPr>
        </p:nvSpPr>
        <p:spPr>
          <a:xfrm>
            <a:off x="450850" y="695771"/>
            <a:ext cx="11290300" cy="35575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BA-</a:t>
            </a:r>
            <a:r>
              <a:rPr lang="en-US" sz="36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Eindwerkstuk</a:t>
            </a: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Seminar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Werkgroep</a:t>
            </a:r>
            <a:r>
              <a:rPr lang="en-US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102</a:t>
            </a: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May 05, 2024</a:t>
            </a:r>
          </a:p>
          <a:p>
            <a:pPr marL="0" lvl="0" indent="0" algn="ctr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Revising your way to final victory</a:t>
            </a:r>
          </a:p>
        </p:txBody>
      </p:sp>
      <p:sp>
        <p:nvSpPr>
          <p:cNvPr id="97" name="Google Shape;97;p14"/>
          <p:cNvSpPr txBox="1"/>
          <p:nvPr/>
        </p:nvSpPr>
        <p:spPr>
          <a:xfrm>
            <a:off x="705570" y="5546706"/>
            <a:ext cx="3353304" cy="61552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2800" b="1" dirty="0">
                <a:solidFill>
                  <a:schemeClr val="lt1"/>
                </a:solidFill>
              </a:rPr>
              <a:t>Dr. Steven Denney</a:t>
            </a:r>
            <a:r>
              <a:rPr lang="en-US" sz="2800" dirty="0">
                <a:solidFill>
                  <a:schemeClr val="lt1"/>
                </a:solidFill>
              </a:rPr>
              <a:t> </a:t>
            </a:r>
            <a:endParaRPr sz="2800" dirty="0">
              <a:solidFill>
                <a:schemeClr val="l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06B60E-5AEE-EB5F-3381-363EA9888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127" y="5051360"/>
            <a:ext cx="3608273" cy="1606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770"/>
    </mc:Choice>
    <mc:Fallback xmlns="">
      <p:transition spd="slow" advTm="307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Today’s objectives</a:t>
            </a:r>
            <a:endParaRPr b="1" dirty="0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81250" y="1538400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000" b="1" dirty="0"/>
              <a:t>About the last few weeks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000" b="1" i="1" dirty="0"/>
              <a:t>On Revision</a:t>
            </a:r>
            <a:r>
              <a:rPr lang="en-US" sz="3000" b="1" dirty="0"/>
              <a:t> (review)</a:t>
            </a:r>
            <a:endParaRPr lang="en-US" sz="3000" b="1" i="1" dirty="0"/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3000" b="1" dirty="0"/>
              <a:t>Revision practice (the Introduction)</a:t>
            </a: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About the last few weeks</a:t>
            </a:r>
            <a:endParaRPr b="1" dirty="0"/>
          </a:p>
        </p:txBody>
      </p:sp>
      <p:sp>
        <p:nvSpPr>
          <p:cNvPr id="104" name="Google Shape;104;p15"/>
          <p:cNvSpPr txBox="1">
            <a:spLocks noGrp="1"/>
          </p:cNvSpPr>
          <p:nvPr>
            <p:ph type="body" idx="1"/>
          </p:nvPr>
        </p:nvSpPr>
        <p:spPr>
          <a:xfrm>
            <a:off x="581250" y="1538400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3000" b="1" dirty="0"/>
              <a:t>You should focus on the following: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000" b="1" dirty="0"/>
              <a:t>Getting feedback and meeting with your supervisor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000" b="1" dirty="0"/>
              <a:t>Understanding your feedback and revising your manuscript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r>
              <a:rPr lang="en-US" sz="3000" b="1" dirty="0"/>
              <a:t>Finishing the full and final draft by the deadline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AutoNum type="arabicPeriod"/>
            </a:pPr>
            <a:endParaRPr lang="en-US" sz="3000" b="1" dirty="0"/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3000" b="1" dirty="0"/>
              <a:t>From next week until the end of this course, I will be available to meet online or in person. This is </a:t>
            </a:r>
            <a:r>
              <a:rPr lang="en-US" sz="3000" b="1" dirty="0">
                <a:solidFill>
                  <a:schemeClr val="accent1"/>
                </a:solidFill>
              </a:rPr>
              <a:t>optional</a:t>
            </a:r>
            <a:r>
              <a:rPr lang="en-US" sz="3000" b="1" dirty="0"/>
              <a:t> for you. See </a:t>
            </a:r>
            <a:r>
              <a:rPr lang="en-US" sz="3000" b="1" dirty="0">
                <a:hlinkClick r:id="rId3"/>
              </a:rPr>
              <a:t>the sign-up sheet</a:t>
            </a:r>
            <a:r>
              <a:rPr lang="en-US" sz="3000" b="1" dirty="0"/>
              <a:t> on BS.</a:t>
            </a:r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626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7E47-388A-D2E5-6DE1-85EC7808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ED2BA-53D1-7B10-B9F3-8487935589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B909E-BF17-500D-7F86-D3273DEF975D}"/>
              </a:ext>
            </a:extLst>
          </p:cNvPr>
          <p:cNvSpPr/>
          <p:nvPr/>
        </p:nvSpPr>
        <p:spPr>
          <a:xfrm>
            <a:off x="10671243" y="5778230"/>
            <a:ext cx="1429966" cy="953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n Revision">
            <a:extLst>
              <a:ext uri="{FF2B5EF4-FFF2-40B4-BE49-F238E27FC236}">
                <a16:creationId xmlns:a16="http://schemas.microsoft.com/office/drawing/2014/main" id="{4E2CD8FA-08DA-AF6B-4BCC-03DEB2B2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558" y="365100"/>
            <a:ext cx="3968883" cy="61343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745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According to David </a:t>
            </a:r>
            <a:r>
              <a:rPr lang="en-US" b="1" dirty="0" err="1"/>
              <a:t>Gooblar</a:t>
            </a:r>
            <a:r>
              <a:rPr lang="en-US" b="1" dirty="0"/>
              <a:t>, what is revising a metaphor for?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According to David </a:t>
            </a:r>
            <a:r>
              <a:rPr lang="en-US" sz="2800" dirty="0" err="1"/>
              <a:t>Gooblar</a:t>
            </a:r>
            <a:r>
              <a:rPr lang="en-US" sz="2800" dirty="0"/>
              <a:t>, revising is a </a:t>
            </a:r>
            <a:r>
              <a:rPr lang="en-US" sz="2800" b="1" dirty="0"/>
              <a:t>metaphor for learning</a:t>
            </a:r>
            <a:r>
              <a:rPr lang="en-US" sz="2800" dirty="0"/>
              <a:t>. ​ 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It is a process of a new understanding, both for </a:t>
            </a:r>
            <a:r>
              <a:rPr lang="en-US" sz="2800" b="1" dirty="0"/>
              <a:t>students revising their understanding of a subject </a:t>
            </a:r>
            <a:r>
              <a:rPr lang="en-US" sz="2800" dirty="0"/>
              <a:t>and for writers revising their work. ​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Revising is also a metaphor for several other things, including </a:t>
            </a:r>
            <a:r>
              <a:rPr lang="en-US" sz="2800" b="1" dirty="0"/>
              <a:t>thinking, a stage, dancing, and a journey</a:t>
            </a:r>
            <a:r>
              <a:rPr lang="en-US" sz="2800" dirty="0"/>
              <a:t>. ​ It involves improving and refining writing to make it clearer, more persuasive, and more engaging for the reader.</a:t>
            </a:r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79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is the difference between correcting and revising?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The difference between correcting and revising lies in their scope and purpose. ​ 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endParaRPr lang="en-US" sz="2800" dirty="0"/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Correcting focuses on fixing specific grammar, spelling, punctuation, or formatting errors while </a:t>
            </a:r>
            <a:r>
              <a:rPr lang="en-US" sz="2800" b="1" dirty="0"/>
              <a:t>revising involves a broader approach to improving the writing's content, structure, and overall effectiveness</a:t>
            </a:r>
            <a:r>
              <a:rPr lang="en-US" sz="2800" dirty="0"/>
              <a:t>.</a:t>
            </a:r>
            <a:endParaRPr lang="en-US" sz="2800" b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0338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How should writers respond to negative criticism?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b="1" dirty="0"/>
              <a:t>Writers should respond to negative criticism by approaching it with an open mind and a willingness to learn and improve. ​</a:t>
            </a:r>
          </a:p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They should stay calm and objective, consider the source of the criticism, and separate it from their self-worth. Writers should look for constructive feedback, reflect on the criticism, and seek additional opinions if needed. ​ They should maintain their own voice while being open to making changes and improvements based on the feedback.</a:t>
            </a:r>
            <a:endParaRPr lang="en-US" sz="2800" b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4233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principles are applicable to revision?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buSzPct val="75000"/>
              <a:buNone/>
            </a:pPr>
            <a:r>
              <a:rPr lang="en-US" sz="2800" dirty="0"/>
              <a:t>According to Wayne Booth and Gregory </a:t>
            </a:r>
            <a:r>
              <a:rPr lang="en-US" sz="2800" dirty="0" err="1"/>
              <a:t>Colomb</a:t>
            </a:r>
            <a:r>
              <a:rPr lang="en-US" sz="2800" dirty="0"/>
              <a:t>, the principles applicable to revision include </a:t>
            </a:r>
            <a:r>
              <a:rPr lang="en-US" sz="2800" b="1" dirty="0"/>
              <a:t>seeing writing as a process</a:t>
            </a:r>
            <a:r>
              <a:rPr lang="en-US" sz="2800" dirty="0"/>
              <a:t>, recognizing the importance of feedback, emphasizing clarity and coherence, considering the needs and expectations of the audience, engaging in self-reflection and self-critique, and practicing iterative revision. </a:t>
            </a:r>
            <a:endParaRPr lang="en-US" sz="2800" b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1749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More principles!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Correcting is not revising. ​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Writing is thinking.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Good writing is persuasive writing. 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​We live in a world of data and narrative.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Look for the good kind of difficult. ​​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We want the good kind of problem. ​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Every text is a stage. ​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Don't undervalue instinct.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Listen to others, even when it hurts.  ​</a:t>
            </a:r>
            <a:endParaRPr lang="en-US" sz="2800" b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15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7E47-388A-D2E5-6DE1-85EC7808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ED2BA-53D1-7B10-B9F3-8487935589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B909E-BF17-500D-7F86-D3273DEF975D}"/>
              </a:ext>
            </a:extLst>
          </p:cNvPr>
          <p:cNvSpPr/>
          <p:nvPr/>
        </p:nvSpPr>
        <p:spPr>
          <a:xfrm>
            <a:off x="10671243" y="5778230"/>
            <a:ext cx="1429966" cy="953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97972-FEB3-35CB-4FAA-F02ECA967C65}"/>
              </a:ext>
            </a:extLst>
          </p:cNvPr>
          <p:cNvSpPr txBox="1"/>
          <p:nvPr/>
        </p:nvSpPr>
        <p:spPr>
          <a:xfrm>
            <a:off x="2433536" y="3104360"/>
            <a:ext cx="7324928" cy="1247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916"/>
              </a:lnSpc>
              <a:buClr>
                <a:schemeClr val="accent2"/>
              </a:buClr>
              <a:buSzPts val="1656"/>
            </a:pP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Revision practice</a:t>
            </a:r>
          </a:p>
          <a:p>
            <a:pPr algn="ctr">
              <a:lnSpc>
                <a:spcPct val="107916"/>
              </a:lnSpc>
              <a:buClr>
                <a:schemeClr val="accent2"/>
              </a:buClr>
              <a:buSzPts val="1656"/>
            </a:pPr>
            <a:r>
              <a:rPr lang="en-US" sz="3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Introduction</a:t>
            </a:r>
          </a:p>
        </p:txBody>
      </p:sp>
    </p:spTree>
    <p:extLst>
      <p:ext uri="{BB962C8B-B14F-4D97-AF65-F5344CB8AC3E}">
        <p14:creationId xmlns:p14="http://schemas.microsoft.com/office/powerpoint/2010/main" val="449623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>
          <a:extLst>
            <a:ext uri="{FF2B5EF4-FFF2-40B4-BE49-F238E27FC236}">
              <a16:creationId xmlns:a16="http://schemas.microsoft.com/office/drawing/2014/main" id="{E3146586-517D-72FF-42D9-E85E4A98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5B09C462-23C2-1AD8-9BE4-248F6AA5A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250" y="319875"/>
            <a:ext cx="11029500" cy="55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makes a good introduction?</a:t>
            </a:r>
            <a:endParaRPr b="1" dirty="0"/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D168AAC-5BE7-B180-AAE0-EE8A3E175A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250" y="1613274"/>
            <a:ext cx="11029500" cy="3781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The research question (</a:t>
            </a:r>
            <a:r>
              <a:rPr lang="en-US" sz="2800" dirty="0">
                <a:solidFill>
                  <a:schemeClr val="accent1"/>
                </a:solidFill>
              </a:rPr>
              <a:t>WHAT</a:t>
            </a:r>
            <a:r>
              <a:rPr lang="en-US" sz="2800" dirty="0"/>
              <a:t>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The research 'problem' and the gap (</a:t>
            </a:r>
            <a:r>
              <a:rPr lang="en-US" sz="2800" dirty="0">
                <a:solidFill>
                  <a:schemeClr val="accent1"/>
                </a:solidFill>
              </a:rPr>
              <a:t>WHY</a:t>
            </a:r>
            <a:r>
              <a:rPr lang="en-US" sz="2800" dirty="0"/>
              <a:t>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The research plan and method (</a:t>
            </a:r>
            <a:r>
              <a:rPr lang="en-US" sz="2800" dirty="0">
                <a:solidFill>
                  <a:schemeClr val="accent1"/>
                </a:solidFill>
              </a:rPr>
              <a:t>HOW</a:t>
            </a:r>
            <a:r>
              <a:rPr lang="en-US" sz="2800" dirty="0"/>
              <a:t>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Main claim(s) (</a:t>
            </a:r>
            <a:r>
              <a:rPr lang="en-US" sz="2800" dirty="0">
                <a:solidFill>
                  <a:schemeClr val="accent1"/>
                </a:solidFill>
              </a:rPr>
              <a:t>FINDING/THESIS</a:t>
            </a:r>
            <a:r>
              <a:rPr lang="en-US" sz="2800" dirty="0"/>
              <a:t>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Contribution to knowledge and the literature (</a:t>
            </a:r>
            <a:r>
              <a:rPr lang="en-US" sz="2800" dirty="0">
                <a:solidFill>
                  <a:schemeClr val="accent1"/>
                </a:solidFill>
              </a:rPr>
              <a:t>CONTRIBUTION</a:t>
            </a:r>
            <a:r>
              <a:rPr lang="en-US" sz="2800" dirty="0"/>
              <a:t>)</a:t>
            </a:r>
          </a:p>
          <a:p>
            <a:pPr marL="514350" indent="-514350">
              <a:lnSpc>
                <a:spcPct val="90000"/>
              </a:lnSpc>
              <a:spcBef>
                <a:spcPts val="1200"/>
              </a:spcBef>
              <a:buSzPct val="75000"/>
              <a:buFont typeface="+mj-lt"/>
              <a:buAutoNum type="arabicPeriod"/>
            </a:pPr>
            <a:r>
              <a:rPr lang="en-US" sz="2800" dirty="0"/>
              <a:t>Roadmap (</a:t>
            </a:r>
            <a:r>
              <a:rPr lang="en-US" sz="2800" dirty="0">
                <a:solidFill>
                  <a:schemeClr val="accent1"/>
                </a:solidFill>
              </a:rPr>
              <a:t>TAKE US THERE</a:t>
            </a:r>
            <a:r>
              <a:rPr lang="en-US" sz="2800" dirty="0"/>
              <a:t>)</a:t>
            </a:r>
            <a:endParaRPr lang="en-US" sz="2800" b="1" dirty="0"/>
          </a:p>
        </p:txBody>
      </p:sp>
      <p:sp>
        <p:nvSpPr>
          <p:cNvPr id="105" name="Google Shape;105;p15">
            <a:extLst>
              <a:ext uri="{FF2B5EF4-FFF2-40B4-BE49-F238E27FC236}">
                <a16:creationId xmlns:a16="http://schemas.microsoft.com/office/drawing/2014/main" id="{C3B4225F-BCD3-2596-AC2C-CEF9C0C375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767710" y="6134373"/>
            <a:ext cx="10524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1592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27E47-388A-D2E5-6DE1-85EC7808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0ED2BA-53D1-7B10-B9F3-8487935589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CB909E-BF17-500D-7F86-D3273DEF975D}"/>
              </a:ext>
            </a:extLst>
          </p:cNvPr>
          <p:cNvSpPr/>
          <p:nvPr/>
        </p:nvSpPr>
        <p:spPr>
          <a:xfrm>
            <a:off x="10671243" y="5778230"/>
            <a:ext cx="1429966" cy="953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97972-FEB3-35CB-4FAA-F02ECA967C65}"/>
              </a:ext>
            </a:extLst>
          </p:cNvPr>
          <p:cNvSpPr txBox="1"/>
          <p:nvPr/>
        </p:nvSpPr>
        <p:spPr>
          <a:xfrm>
            <a:off x="2433536" y="3104360"/>
            <a:ext cx="7324928" cy="64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916"/>
              </a:lnSpc>
              <a:buClr>
                <a:schemeClr val="accent2"/>
              </a:buClr>
              <a:buSzPts val="1656"/>
            </a:pPr>
            <a:r>
              <a:rPr lang="en-US" sz="3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Revise your introduction!</a:t>
            </a:r>
            <a:endParaRPr lang="en-US" sz="3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28673"/>
      </p:ext>
    </p:extLst>
  </p:cSld>
  <p:clrMapOvr>
    <a:masterClrMapping/>
  </p:clrMapOvr>
</p:sld>
</file>

<file path=ppt/theme/theme1.xml><?xml version="1.0" encoding="utf-8"?>
<a:theme xmlns:a="http://schemas.openxmlformats.org/drawingml/2006/main" name="SCD_UniVie">
  <a:themeElements>
    <a:clrScheme name="Custom 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DD347A"/>
      </a:accent1>
      <a:accent2>
        <a:srgbClr val="14365D"/>
      </a:accent2>
      <a:accent3>
        <a:srgbClr val="8AD4DF"/>
      </a:accent3>
      <a:accent4>
        <a:srgbClr val="FECC14"/>
      </a:accent4>
      <a:accent5>
        <a:srgbClr val="F7941E"/>
      </a:accent5>
      <a:accent6>
        <a:srgbClr val="79133E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544</Words>
  <Application>Microsoft Macintosh PowerPoint</Application>
  <PresentationFormat>Widescreen</PresentationFormat>
  <Paragraphs>70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Noto Sans Symbols</vt:lpstr>
      <vt:lpstr>Calibri</vt:lpstr>
      <vt:lpstr>Garamond</vt:lpstr>
      <vt:lpstr>Arial</vt:lpstr>
      <vt:lpstr>Gill Sans</vt:lpstr>
      <vt:lpstr>Times New Roman</vt:lpstr>
      <vt:lpstr>SCD_UniVie</vt:lpstr>
      <vt:lpstr>PowerPoint Presentation</vt:lpstr>
      <vt:lpstr>Today’s objectives</vt:lpstr>
      <vt:lpstr>About the last few weeks</vt:lpstr>
      <vt:lpstr>PowerPoint Presentation</vt:lpstr>
      <vt:lpstr>According to David Gooblar, what is revising a metaphor for?</vt:lpstr>
      <vt:lpstr>What is the difference between correcting and revising?</vt:lpstr>
      <vt:lpstr>How should writers respond to negative criticism?</vt:lpstr>
      <vt:lpstr>What principles are applicable to revision?</vt:lpstr>
      <vt:lpstr>More principles!</vt:lpstr>
      <vt:lpstr>PowerPoint Presentation</vt:lpstr>
      <vt:lpstr>What makes a good introduction?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 Denney</dc:creator>
  <cp:lastModifiedBy>Steven Denney</cp:lastModifiedBy>
  <cp:revision>53</cp:revision>
  <dcterms:modified xsi:type="dcterms:W3CDTF">2024-05-02T13:55:15Z</dcterms:modified>
</cp:coreProperties>
</file>